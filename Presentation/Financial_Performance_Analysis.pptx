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A4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A4E"/>
                </a:solidFill>
                <a:latin typeface="Calibri"/>
              </a:rPr>
              <a:t>Monthly Revenue vs. Expense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22A4E"/>
            </a:solidFill>
            <a:ln w="28575" cap="flat">
              <a:solidFill>
                <a:srgbClr val="122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22A4E"/>
              </a:solidFill>
              <a:ln w="9525" cap="flat">
                <a:solidFill>
                  <a:srgbClr val="122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Jan-22</c:v>
                  </c:pt>
                  <c:pt idx="1">
                    <c:v>Apr-22</c:v>
                  </c:pt>
                  <c:pt idx="2">
                    <c:v>Jul-22</c:v>
                  </c:pt>
                  <c:pt idx="3">
                    <c:v>Oct-22</c:v>
                  </c:pt>
                  <c:pt idx="4">
                    <c:v>Jan-23</c:v>
                  </c:pt>
                  <c:pt idx="5">
                    <c:v>Apr-23</c:v>
                  </c:pt>
                  <c:pt idx="6">
                    <c:v>Jul-23</c:v>
                  </c:pt>
                  <c:pt idx="7">
                    <c:v>Oct-23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25.54</c:v>
                </c:pt>
                <c:pt idx="1">
                  <c:v>32.86</c:v>
                </c:pt>
                <c:pt idx="2">
                  <c:v>32.54</c:v>
                </c:pt>
                <c:pt idx="3">
                  <c:v>37.15</c:v>
                </c:pt>
                <c:pt idx="4">
                  <c:v>38.07</c:v>
                </c:pt>
                <c:pt idx="5">
                  <c:v>32.13</c:v>
                </c:pt>
                <c:pt idx="6">
                  <c:v>33.45</c:v>
                </c:pt>
                <c:pt idx="7">
                  <c:v>45.61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B3452F"/>
            </a:solidFill>
            <a:ln w="28575" cap="flat">
              <a:solidFill>
                <a:srgbClr val="B34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3452F"/>
              </a:solidFill>
              <a:ln w="9525" cap="flat">
                <a:solidFill>
                  <a:srgbClr val="B34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Jan-22</c:v>
                  </c:pt>
                  <c:pt idx="1">
                    <c:v>Apr-22</c:v>
                  </c:pt>
                  <c:pt idx="2">
                    <c:v>Jul-22</c:v>
                  </c:pt>
                  <c:pt idx="3">
                    <c:v>Oct-22</c:v>
                  </c:pt>
                  <c:pt idx="4">
                    <c:v>Jan-23</c:v>
                  </c:pt>
                  <c:pt idx="5">
                    <c:v>Apr-23</c:v>
                  </c:pt>
                  <c:pt idx="6">
                    <c:v>Jul-23</c:v>
                  </c:pt>
                  <c:pt idx="7">
                    <c:v>Oct-23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7.4</c:v>
                </c:pt>
                <c:pt idx="1">
                  <c:v>7.54</c:v>
                </c:pt>
                <c:pt idx="2">
                  <c:v>7.1</c:v>
                </c:pt>
                <c:pt idx="3">
                  <c:v>7.17</c:v>
                </c:pt>
                <c:pt idx="4">
                  <c:v>7.14</c:v>
                </c:pt>
                <c:pt idx="5">
                  <c:v>8.43</c:v>
                </c:pt>
                <c:pt idx="6">
                  <c:v>6.88</c:v>
                </c:pt>
                <c:pt idx="7">
                  <c:v>6.97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A4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A4E"/>
                </a:solidFill>
                <a:latin typeface="Calibri"/>
              </a:rPr>
              <a:t>Actual vs. Budgeted Revenue by Business Unit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22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Retail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297.53</c:v>
                </c:pt>
                <c:pt idx="1">
                  <c:v>285.68</c:v>
                </c:pt>
                <c:pt idx="2">
                  <c:v>281.4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Budgeted</c:v>
                </c:pt>
              </c:strCache>
            </c:strRef>
          </c:tx>
          <c:spPr>
            <a:solidFill>
              <a:srgbClr val="9FB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Retail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47.3</c:v>
                </c:pt>
                <c:pt idx="1">
                  <c:v>43.83</c:v>
                </c:pt>
                <c:pt idx="2">
                  <c:v>44.68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A4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A4E"/>
                </a:solidFill>
                <a:latin typeface="Calibri"/>
              </a:rPr>
              <a:t>Top Expense Categories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Expense ($M)</c:v>
                </c:pt>
              </c:strCache>
            </c:strRef>
          </c:tx>
          <c:spPr>
            <a:solidFill>
              <a:srgbClr val="B34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1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Other</c:v>
                  </c:pt>
                  <c:pt idx="1">
                    <c:v>Marketing</c:v>
                  </c:pt>
                  <c:pt idx="2">
                    <c:v>Utilities</c:v>
                  </c:pt>
                  <c:pt idx="3">
                    <c:v>Supplies</c:v>
                  </c:pt>
                  <c:pt idx="4">
                    <c:v>Rent</c:v>
                  </c:pt>
                  <c:pt idx="5">
                    <c:v>Payroll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29</c:v>
                </c:pt>
                <c:pt idx="2">
                  <c:v>28.4</c:v>
                </c:pt>
                <c:pt idx="3">
                  <c:v>27.7</c:v>
                </c:pt>
                <c:pt idx="4">
                  <c:v>27.4</c:v>
                </c:pt>
                <c:pt idx="5">
                  <c:v>25.3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721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b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32C4E"/>
                </a:solidFill>
              </a:rPr>
              <a:t>By Business Unit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Employee (₹M)</c:v>
                </c:pt>
              </c:strCache>
            </c:strRef>
          </c:tx>
          <c:spPr>
            <a:solidFill>
              <a:srgbClr val="132C4E"/>
            </a:solidFill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Retail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1.151</c:v>
                </c:pt>
                <c:pt idx="1">
                  <c:v>1.131</c:v>
                </c:pt>
                <c:pt idx="2">
                  <c:v>1.066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32C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A55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DEDE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557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32C4E"/>
                </a:solidFill>
              </a:rPr>
              <a:t>By Region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Employee (₹M)</c:v>
                </c:pt>
              </c:strCache>
            </c:strRef>
          </c:tx>
          <c:spPr>
            <a:solidFill>
              <a:srgbClr val="132C4E"/>
            </a:solidFill>
          </c:spPr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West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1.141</c:v>
                </c:pt>
                <c:pt idx="1">
                  <c:v>1.123</c:v>
                </c:pt>
                <c:pt idx="2">
                  <c:v>1.114</c:v>
                </c:pt>
                <c:pt idx="3">
                  <c:v>1.071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32C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A55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DEDE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557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4663440"/>
            <a:ext cx="3840480" cy="3840480"/>
          </a:xfrm>
          <a:prstGeom prst="ellipse">
            <a:avLst/>
          </a:prstGeom>
          <a:solidFill>
            <a:srgbClr val="1C3A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6517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two years of financial, budget, and headcount data into decision-ready insights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 Sarkar   |   Data Analyst  —  Capstone Project, Analytics Center of Excellence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4592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needs a clear, current view of financial health — whether revenue and costs are on track, where budgets are slipping, and who the most valuable customers and costliest vendors are.
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two years of raw financial, budget, headcount, customer, and vendor data into a validated, decision-ready analysis and dashboard for the executive team.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75120" y="1371600"/>
            <a:ext cx="502920" cy="50292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6" name="Image 0" descr="icons/trending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879" y="15023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13258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revenue and cost on track against targets?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75120" y="2578608"/>
            <a:ext cx="502920" cy="50292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9" name="Image 1" descr="icons/bar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70936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2532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budget overruns or underspends?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675120" y="3785616"/>
            <a:ext cx="502920" cy="50292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2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879" y="3916375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373989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most valuable customers and costliest vendors?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675120" y="4992624"/>
            <a:ext cx="502920" cy="50292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5" name="Image 3" descr="icons/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879" y="5123383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494690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underlying data reliable enough to trust?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 executive-ready dashboard, in six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777240" cy="7772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5" name="Image 0" descr="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579522"/>
            <a:ext cx="373075" cy="373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72184" y="2766060"/>
            <a:ext cx="960120" cy="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37160" y="3291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716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KPIs &amp; hypotheses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61288" y="2267712"/>
            <a:ext cx="365760" cy="365760"/>
          </a:xfrm>
          <a:prstGeom prst="ellipse">
            <a:avLst/>
          </a:prstGeom>
          <a:solidFill>
            <a:srgbClr val="B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87168" y="2377440"/>
            <a:ext cx="777240" cy="7772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2" name="Image 1" descr="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250" y="2579522"/>
            <a:ext cx="373075" cy="37307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19272" y="2766060"/>
            <a:ext cx="960120" cy="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984248" y="3291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984248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integrity in Excel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008376" y="2267712"/>
            <a:ext cx="365760" cy="365760"/>
          </a:xfrm>
          <a:prstGeom prst="ellipse">
            <a:avLst/>
          </a:prstGeom>
          <a:solidFill>
            <a:srgbClr val="B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008376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34256" y="2377440"/>
            <a:ext cx="777240" cy="7772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9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338" y="2579522"/>
            <a:ext cx="373075" cy="37307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66360" y="2766060"/>
            <a:ext cx="960120" cy="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3831336" y="3291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Load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831336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PK/FK constraints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55464" y="2267712"/>
            <a:ext cx="365760" cy="365760"/>
          </a:xfrm>
          <a:prstGeom prst="ellipse">
            <a:avLst/>
          </a:prstGeom>
          <a:solidFill>
            <a:srgbClr val="B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4855464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81344" y="2377440"/>
            <a:ext cx="777240" cy="7772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26" name="Image 3" descr="icon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26" y="2579522"/>
            <a:ext cx="373075" cy="37307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013448" y="2766060"/>
            <a:ext cx="960120" cy="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5678424" y="3291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678424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pandas, SciPy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702552" y="2267712"/>
            <a:ext cx="365760" cy="365760"/>
          </a:xfrm>
          <a:prstGeom prst="ellipse">
            <a:avLst/>
          </a:prstGeom>
          <a:solidFill>
            <a:srgbClr val="B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6702552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028432" y="2377440"/>
            <a:ext cx="777240" cy="7772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33" name="Image 4" descr="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514" y="2579522"/>
            <a:ext cx="373075" cy="373075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860536" y="2766060"/>
            <a:ext cx="960120" cy="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7525512" y="3291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Segment Analysis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7525512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concentration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549640" y="2267712"/>
            <a:ext cx="365760" cy="365760"/>
          </a:xfrm>
          <a:prstGeom prst="ellipse">
            <a:avLst/>
          </a:prstGeom>
          <a:solidFill>
            <a:srgbClr val="B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1"/>
          <p:cNvSpPr/>
          <p:nvPr/>
        </p:nvSpPr>
        <p:spPr>
          <a:xfrm>
            <a:off x="854964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9875520" y="2377440"/>
            <a:ext cx="777240" cy="777240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40" name="Image 5" descr="icons/monito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7602" y="2579522"/>
            <a:ext cx="373075" cy="37307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372600" y="32918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Insights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937260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recommendations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10396728" y="2267712"/>
            <a:ext cx="365760" cy="365760"/>
          </a:xfrm>
          <a:prstGeom prst="ellipse">
            <a:avLst/>
          </a:prstGeom>
          <a:solidFill>
            <a:srgbClr val="B8862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36"/>
          <p:cNvSpPr/>
          <p:nvPr/>
        </p:nvSpPr>
        <p:spPr>
          <a:xfrm>
            <a:off x="10396728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40080" y="516636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E3EAF3"/>
          </a:solidFill>
          <a:ln/>
        </p:spPr>
        <p:txBody>
          <a:bodyPr/>
          <a:p/>
        </p:txBody>
      </p:sp>
      <p:sp>
        <p:nvSpPr>
          <p:cNvPr id="46" name="Shape 38"/>
          <p:cNvSpPr/>
          <p:nvPr/>
        </p:nvSpPr>
        <p:spPr>
          <a:xfrm>
            <a:off x="868680" y="5394960"/>
            <a:ext cx="658368" cy="658368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47" name="Image 6" descr="icons/lay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856" y="5566136"/>
            <a:ext cx="316017" cy="316017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691640" y="5349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was validated before moving to the next — Excel checks fed the SQL schema, SQL integrity fed the Python EDA, and every statistic in this deck traces back to a specific, reproducible step.</a:t>
            </a:r>
            <a:endParaRPr lang="en-US" sz="1250" dirty="0"/>
          </a:p>
        </p:txBody>
      </p:sp>
      <p:sp>
        <p:nvSpPr>
          <p:cNvPr id="49" name="Text 4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874520"/>
            <a:ext cx="566928" cy="566928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5" name="Image 0" descr="icons/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0219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— missing-value, duplicate &amp; category checks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617720" y="1874520"/>
            <a:ext cx="566928" cy="566928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0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121" y="20219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1772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PK/FK integrity, data load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566928" cy="566928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5" name="Image 2" descr="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41" y="202192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2104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EDA, budget variance, outlier detection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14400" y="4251960"/>
            <a:ext cx="566928" cy="566928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20" name="Image 3" descr="icons/bar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439936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Statistics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14400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ANOVA, t-test, chi-square hypothesis testing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4617720" y="4251960"/>
            <a:ext cx="566928" cy="566928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25" name="Image 4" descr="icons/pie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121" y="4399361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17720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trend &amp; variance visuals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04672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8321040" y="4251960"/>
            <a:ext cx="566928" cy="566928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30" name="Image 5" descr="icons/monito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441" y="4399361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21040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executive dashboard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Key KPIs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517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470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$864.6M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410712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93592" y="1517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93592" y="18470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3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$167.7M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181344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64224" y="1517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64224" y="18470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$696.9M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951976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34856" y="1517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34856" y="18470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80.6%</a:t>
            </a:r>
            <a:endParaRPr lang="en-US" sz="2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0080" y="2788920"/>
          <a:ext cx="6720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7589520" y="2834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3246120"/>
            <a:ext cx="3977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noisy month to month — normal for transaction-level data — but trends upward overall, with a step-up from mid-2023 onward. Expense stays flat and low by comparison, which is exactly what an 80.6% gross margin looks like month by month, not just at the yearly total.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7150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3EAF3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41248" y="5870448"/>
            <a:ext cx="530352" cy="530352"/>
          </a:xfrm>
          <a:prstGeom prst="ellipse">
            <a:avLst/>
          </a:prstGeom>
          <a:solidFill>
            <a:srgbClr val="2F7D5A"/>
          </a:solidFill>
          <a:ln/>
        </p:spPr>
        <p:txBody>
          <a:bodyPr/>
          <a:p/>
        </p:txBody>
      </p:sp>
      <p:pic>
        <p:nvPicPr>
          <p:cNvPr id="20" name="Image 0" descr="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0" y="6008340"/>
            <a:ext cx="254569" cy="25456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08760" y="577900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10,400 transactions  ·  5 linked tables  ·  0 duplicate keys  ·  0 orphaned foreign keys  ·  0 unexpected missing values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independently in Excel and Python before analysis began.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Variance Analysis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25880"/>
          <a:ext cx="6492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09160"/>
          <a:ext cx="6492240" cy="1783080"/>
        </p:xfrm>
        <a:graphic>
          <a:graphicData uri="http://schemas.openxmlformats.org/drawingml/2006/table">
            <a:tbl>
              <a:tblPr/>
              <a:tblGrid>
                <a:gridCol w="2164080"/>
                <a:gridCol w="2164080"/>
                <a:gridCol w="21640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+551.74%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+65.21%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+529.86%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+69.76%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+528.98%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+48.93%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+536.61%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+60.88%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406640" y="141732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7635240" y="1554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Budget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635240" y="18562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+536.6%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7635240" y="244144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revenue ran ~6.4× ahead of plan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406640" y="315468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635240" y="3291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vs. Budget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635240" y="359359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+60.9%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7635240" y="417880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also grew, but far less steeply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406640" y="498348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this: budgets were set conservatively relative to what the business actually delivered — this is a planning-process finding, not a performance problem.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 — Hypotheses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the patterns visible in the charts are statistically real, or just normal variation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22A4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691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expense differ across business units?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0.235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0.791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3E7E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4343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88536" y="16916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288536" y="16916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22A4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88536" y="1691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17136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revenue differ between regions (East vs. West)?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17136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0.746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17136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0.456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17136" y="434340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3E7E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17136" y="4343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36992" y="16916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36992" y="16916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22A4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36992" y="1691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65592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customer segment associated with purchase category?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65592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2.206, df = 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65592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0.698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165592" y="434340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3E7E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65592" y="4343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E3EAF3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68680" y="5394960"/>
            <a:ext cx="658368" cy="658368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30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5566136"/>
            <a:ext cx="316017" cy="31601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691640" y="5349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p-values are well above 0.05. Performance is genuinely consistent across business units, regions, and customer segments — the differences visible in charts are normal variation, not a real underlying pattern.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Vendor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536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$2.16M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88536" y="13716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471416" y="1536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 Share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71416" y="190195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4.44%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936992" y="13716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19872" y="1536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Vendor Share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9872" y="190195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15.23%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321808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2F7D5A"/>
          </a:solidFill>
          <a:ln/>
        </p:spPr>
        <p:txBody>
          <a:bodyPr/>
          <a:p/>
        </p:txBody>
      </p:sp>
      <p:pic>
        <p:nvPicPr>
          <p:cNvPr id="14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3331159"/>
            <a:ext cx="241402" cy="2414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3200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is well diversified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8862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customers account for just 4.44% of total revenue out of 400 active customers — no single account concentration risk. Even the single largest customer, Gonzalez, Barton and Robles, represents only $4.2M — under 0.5% of total revenue.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08192" y="2971800"/>
            <a:ext cx="54406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336792" y="3200400"/>
            <a:ext cx="502920" cy="502920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19" name="Image 1" descr="icons/tru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551" y="333115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76872" y="32004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spend is more concentrated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336792" y="38862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vendors account for 15.23% of total expense across 120 active vendors — roughly 3.4× more concentrated than the customer side. The largest single vendor, Crawford, Solis and Jackson, represents $2.8M, about 1.7% of total expense.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Drivers &amp; Headcount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2588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629400" y="14173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858000" y="1417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326880" y="14173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629400" y="2532888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0" y="253288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Cost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0" y="253288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$207.1M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629400" y="3648456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858000" y="364845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/ Employee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0" y="3648456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$1.11M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29400" y="4892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shows the lowest gross margin of the three units (79.7% vs. 81.4% for Online) — but the ANOVA test on Slide 7 confirms this ~1.7pt gap is not statistically significant, so it's a data point to watch, not evidence of an underlying cost problem.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spc="200">
                <a:solidFill>
                  <a:srgbClr val="B8863B"/>
                </a:solidFill>
                <a:latin typeface="Georgia"/>
              </a:rPr>
              <a:t>HEADCOUNT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32C4E"/>
                </a:solidFill>
                <a:latin typeface="Georgia"/>
              </a:rPr>
              <a:t>Cost per Employee by Business Unit &amp;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570"/>
                </a:solidFill>
                <a:latin typeface="Georgia"/>
              </a:rPr>
              <a:t>Average annual cost per employee (total headcount cost ÷ active employees), not revenue or expense. Axis starts at $0 so the real gap between groups is shown honestly, without exaggeration.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057400"/>
          <a:ext cx="480060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55080" y="1874519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0" y="2057400"/>
          <a:ext cx="4800600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98932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F0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4A3D73"/>
                </a:solidFill>
                <a:latin typeface="Georgia"/>
              </a:rPr>
              <a:t>Enterprise and East have the highest cost per employee; Online and South the lowest — a ~7-8% spread, not a large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A5570"/>
                </a:solidFill>
                <a:latin typeface="Georgia"/>
              </a:rPr>
              <a:t>Financial 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A5570"/>
                </a:solidFill>
                <a:latin typeface="Georgia"/>
              </a:rPr>
              <a:t>09a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4" name="Image 0" descr="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559966"/>
            <a:ext cx="263347" cy="2633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898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genuinely consistent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1709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unit, region, or segment statistically outperforms or underperforms another — confirmed by all 3 hypothesis tests.</a:t>
            </a:r>
            <a:endParaRPr lang="en-US" sz="118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8" name="Image 1" descr="icons/bar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52008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500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are set well below actuals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0" y="26700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beat budget by 536.6% and expense by 60.9% company-wide — a planning-process gap, not a spending problem.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2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48020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3101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is low-risk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71600" y="36301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= just 4.44% of revenue across 400 accounts — broad, resilient revenue base.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16" name="Image 3" descr="icons/tru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44032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270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spend is comparatively concentrated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371600" y="45902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vendors = 15.23% of expense, ~3.4× more concentrated than customer revenue.</a:t>
            </a:r>
            <a:endParaRPr lang="en-US" sz="1180" dirty="0"/>
          </a:p>
        </p:txBody>
      </p:sp>
      <p:sp>
        <p:nvSpPr>
          <p:cNvPr id="19" name="Shape 13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122A4E"/>
          </a:solidFill>
          <a:ln/>
        </p:spPr>
        <p:txBody>
          <a:bodyPr/>
          <a:p/>
        </p:txBody>
      </p:sp>
      <p:pic>
        <p:nvPicPr>
          <p:cNvPr id="20" name="Image 4" descr="icons/activit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540044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2303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Enterprise's slightly thinner margin isn't significant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371600" y="55504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 vs. 80.6–81.4% elsewhere — confirmed as normal variation by the ANOVA test, not a real cost gap.</a:t>
            </a:r>
            <a:endParaRPr lang="en-US" sz="1180" dirty="0"/>
          </a:p>
        </p:txBody>
      </p:sp>
      <p:sp>
        <p:nvSpPr>
          <p:cNvPr id="23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to Business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218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691640"/>
            <a:ext cx="548640" cy="548640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5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8342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budgeting baseline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2022–2023 actuals, not the original conservative targets, as the starting point for next year's budget.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1928" y="1417320"/>
            <a:ext cx="53218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56248" y="1691640"/>
            <a:ext cx="548640" cy="548640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10" name="Image 1" descr="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183428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87768" y="167335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current operating structure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56248" y="2423160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found no statistically significant variance by unit, region, or segment — no structural reallocation is justified by this data.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3218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14400" y="4297680"/>
            <a:ext cx="548640" cy="548640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15" name="Image 2" descr="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44403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427939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vendor concentration risk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14400" y="5029200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or renegotiate terms with top vendors representing 15.23% of spend.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81928" y="4023360"/>
            <a:ext cx="532180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556248" y="4297680"/>
            <a:ext cx="548640" cy="548640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20" name="Image 3" descr="icons/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94" y="444032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427939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data-validation process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556248" y="5029200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PK/FK, category, and range checks used here into a recurring monthly routine.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1C3A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analysis goes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30352" cy="530352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6" name="Image 0" descr="icons/trendingu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201241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3794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36192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hypothesis testing into regression / time-series forecasting as more periods accumulate.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530352" cy="530352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10" name="Image 1" descr="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2881092"/>
            <a:ext cx="254569" cy="2545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70662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refresh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36192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directly to the MySQL instance instead of static CSV snapshots.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611880"/>
            <a:ext cx="530352" cy="530352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14" name="Image 2" descr="icons/gri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3749772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36192" y="35753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Interaction-effect testing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536192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region × business unit combinations, not just single-factor comparisons.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" y="4480560"/>
            <a:ext cx="530352" cy="530352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18" name="Image 3" descr="icons/alerttriang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52" y="4618452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36192" y="444398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alerts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536192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IQR outlier checks into a monitoring alert instead of a one-time notebook pass.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" y="5349240"/>
            <a:ext cx="530352" cy="530352"/>
          </a:xfrm>
          <a:prstGeom prst="ellipse">
            <a:avLst/>
          </a:prstGeom>
          <a:solidFill>
            <a:srgbClr val="B8862E"/>
          </a:solidFill>
          <a:ln/>
        </p:spPr>
        <p:txBody>
          <a:bodyPr/>
          <a:p/>
        </p:txBody>
      </p:sp>
      <p:pic>
        <p:nvPicPr>
          <p:cNvPr id="22" name="Image 4" descr="icons/user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5487132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36192" y="53126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profitability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536192" y="5623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profit down by individual customer/vendor, not just aggregate top-10 concentration.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2026-09-20T10:22:17Z</dcterms:created>
  <dcterms:modified xsi:type="dcterms:W3CDTF">2026-09-20T10:22:17Z</dcterms:modified>
</cp:coreProperties>
</file>